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80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4552" cy="5943600"/>
          </a:xfrm>
          <a:prstGeom prst="roundRect">
            <a:avLst/>
          </a:prstGeom>
          <a:noFill/>
          <a:ln w="381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BBF7D0"/>
                </a:solidFill>
              </a:defRPr>
            </a:pPr>
            <a:r>
              <a:t>ARGOFARM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Arial"/>
              </a:defRPr>
            </a:pPr>
            <a:r>
              <a:t>ArgoFarm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BF7D0"/>
                </a:solidFill>
                <a:latin typeface="Arial"/>
              </a:defRPr>
            </a:pPr>
            <a:r>
              <a:t>Agricultural Advisory &amp; Crop Diagnostics Platform for Pakistan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Arial"/>
              </a:defRPr>
            </a:pPr>
            <a:r>
              <a:t>Project Overview &amp;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BF7D0"/>
                </a:solidFill>
              </a:defRPr>
            </a:pPr>
            <a:r>
              <a:t>Platform: Single-Page Web App (SPA)   |   Target Region: Pakistan   |   Languages: English &amp; Urdu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803D"/>
                </a:solidFill>
                <a:latin typeface="Arial"/>
              </a:defRPr>
            </a:pPr>
            <a:r>
              <a:t>1. Project Overview &amp;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591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The Challenge: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Crop Yields:</a:t>
            </a:r>
            <a:r>
              <a:t> Many farmers face reduced crop yields because plant diseases are not identified early enough.</a:t>
            </a:r>
          </a:p>
          <a:p>
            <a:pPr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Advisor Access:</a:t>
            </a:r>
            <a:r>
              <a:t> Expert agricultural support is often limited or hard to reach in rural farming villages.</a:t>
            </a:r>
          </a:p>
          <a:p>
            <a:pPr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Weather Changes:</a:t>
            </a:r>
            <a:r>
              <a:t> Climate variations impact planting schedules without timely local advice.</a:t>
            </a:r>
          </a:p>
          <a:p>
            <a:pPr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Market Pricing:</a:t>
            </a:r>
            <a:r>
              <a:t> Lack of transparent crop prices makes it difficult to negotiate fair bulk sales.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The Solution: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Crop Diagnostics:</a:t>
            </a:r>
            <a:r>
              <a:t> Upload leaf photos to identify plant health issues quickly.</a:t>
            </a:r>
          </a:p>
          <a:p>
            <a:pPr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Bilingual Support:</a:t>
            </a:r>
            <a:r>
              <a:t> Ask questions naturally in English or Urdu via text or voice.</a:t>
            </a:r>
          </a:p>
          <a:p>
            <a:pPr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Regional Health Trends:</a:t>
            </a:r>
            <a:r>
              <a:t> Display local crop warnings and advisories on an interactive map.</a:t>
            </a:r>
          </a:p>
          <a:p>
            <a:pPr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Farming Planners:</a:t>
            </a:r>
            <a:r>
              <a:t> Generate simple 4-month crop timelines and wholesale pricing suggestions.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803D"/>
                </a:solidFill>
                <a:latin typeface="Arial"/>
              </a:defRPr>
            </a:pPr>
            <a:r>
              <a:t>2.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591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Backend API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t>Python / Flask Server</a:t>
            </a:r>
          </a:p>
          <a:p>
            <a:pPr>
              <a:defRPr sz="1300">
                <a:latin typeface="Arial"/>
              </a:defRPr>
            </a:pPr>
            <a:r>
              <a:t>mysql-connector API helper</a:t>
            </a:r>
          </a:p>
          <a:p>
            <a:pPr>
              <a:defRPr sz="1300">
                <a:latin typeface="Arial"/>
              </a:defRPr>
            </a:pPr>
            <a:r>
              <a:t>PyJWT &amp; Bcrypt logins</a:t>
            </a:r>
          </a:p>
          <a:p>
            <a:pPr>
              <a:defRPr sz="1300">
                <a:latin typeface="Arial"/>
              </a:defRPr>
            </a:pPr>
            <a:r>
              <a:t>scikit-learn crop recommender</a:t>
            </a:r>
          </a:p>
          <a:p>
            <a:pPr>
              <a:defRPr sz="1300">
                <a:latin typeface="Arial"/>
              </a:defRPr>
            </a:pPr>
            <a:r>
              <a:t>Pillow image checker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Frontend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t>Vanilla JS Single-Page App</a:t>
            </a:r>
          </a:p>
          <a:p>
            <a:pPr>
              <a:defRPr sz="1300">
                <a:latin typeface="Arial"/>
              </a:defRPr>
            </a:pPr>
            <a:r>
              <a:t>Vite build tool</a:t>
            </a:r>
          </a:p>
          <a:p>
            <a:pPr>
              <a:defRPr sz="1300">
                <a:latin typeface="Arial"/>
              </a:defRPr>
            </a:pPr>
            <a:r>
              <a:t>Leaflet.js map display</a:t>
            </a:r>
          </a:p>
          <a:p>
            <a:pPr>
              <a:defRPr sz="1300">
                <a:latin typeface="Arial"/>
              </a:defRPr>
            </a:pPr>
            <a:r>
              <a:t>Chart.js history logs</a:t>
            </a:r>
          </a:p>
          <a:p>
            <a:pPr>
              <a:defRPr sz="1300">
                <a:latin typeface="Arial"/>
              </a:defRPr>
            </a:pPr>
            <a:r>
              <a:t>CSS Variables styling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AI Integrations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t>Google Gemini</a:t>
            </a:r>
          </a:p>
          <a:p>
            <a:pPr>
              <a:defRPr sz="1300">
                <a:latin typeface="Arial"/>
              </a:defRPr>
            </a:pPr>
            <a:r>
              <a:t>Groq LLaMA</a:t>
            </a:r>
          </a:p>
          <a:p>
            <a:pPr>
              <a:defRPr sz="1300">
                <a:latin typeface="Arial"/>
              </a:defRPr>
            </a:pPr>
            <a:r>
              <a:t>Groq Whisper</a:t>
            </a:r>
          </a:p>
          <a:p>
            <a:pPr>
              <a:defRPr sz="1300">
                <a:latin typeface="Arial"/>
              </a:defRPr>
            </a:pPr>
            <a:r>
              <a:t>Open-Meteo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805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t>Docker Compose services</a:t>
            </a:r>
          </a:p>
          <a:p>
            <a:pPr>
              <a:defRPr sz="1300">
                <a:latin typeface="Arial"/>
              </a:defRPr>
            </a:pPr>
            <a:r>
              <a:t>Nginx gateway proxy</a:t>
            </a:r>
          </a:p>
          <a:p>
            <a:pPr>
              <a:defRPr sz="1300">
                <a:latin typeface="Arial"/>
              </a:defRPr>
            </a:pPr>
            <a:r>
              <a:t>Netlify host routing</a:t>
            </a:r>
          </a:p>
          <a:p>
            <a:pPr>
              <a:defRPr sz="1300">
                <a:latin typeface="Arial"/>
              </a:defRPr>
            </a:pPr>
            <a:r>
              <a:t>VPS server environment</a:t>
            </a:r>
          </a:p>
          <a:p>
            <a:pPr>
              <a:defRPr sz="1300">
                <a:latin typeface="Arial"/>
              </a:defRPr>
            </a:pPr>
            <a:r>
              <a:t>Git version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803D"/>
                </a:solidFill>
                <a:latin typeface="Arial"/>
              </a:defRPr>
            </a:pPr>
            <a:r>
              <a:t>3. How the Platform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591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Arial"/>
              </a:defRPr>
            </a:pPr>
            <a:r>
              <a:t>ArgoFarm uses a simple client-server layout designed for easy access, account security, and offline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1. User Interface (Browser):</a:t>
            </a:r>
            <a:r>
              <a:t> A web-based interface optimized for mobile phone screens in the field.</a:t>
            </a:r>
          </a:p>
          <a:p>
            <a:pPr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2. Web Proxy Gateway:</a:t>
            </a:r>
            <a:r>
              <a:t> Safely routes requests from the user interface to the core server.</a:t>
            </a:r>
          </a:p>
          <a:p>
            <a:pPr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3. Application Server:</a:t>
            </a:r>
            <a:r>
              <a:t> Manages the core database, security checks, and platform operations.</a:t>
            </a:r>
          </a:p>
          <a:p>
            <a:pPr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4. Database Layer:</a:t>
            </a:r>
            <a:r>
              <a:t> Securely stores user profiles, crop planning data, and chat logs.</a:t>
            </a:r>
          </a:p>
          <a:p>
            <a:pPr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5. AI Services Layer:</a:t>
            </a:r>
            <a:r>
              <a:t> Coordinates voice transcripts, leaf scans, and market price evaluations.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803D"/>
                </a:solidFill>
                <a:latin typeface="Arial"/>
              </a:defRPr>
            </a:pPr>
            <a:r>
              <a:t>4. Disease Diagnostics &amp; Advisor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591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Crop Disease Scanning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Photo Scanning:</a:t>
            </a:r>
            <a:r>
              <a:t> Leaf images are analyzed by agricultural vision models to detect health issues.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Quality Guard:</a:t>
            </a:r>
            <a:r>
              <a:t> Blurry or non-crop photos are flagged to ensure accurate readings.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Simple Remedies:</a:t>
            </a:r>
            <a:r>
              <a:t> Get practical organic treatments, pesticide controls, and preventive steps.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System Fallbacks:</a:t>
            </a:r>
            <a:r>
              <a:t> Returns standard crop health advice if the cloud service is offline.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CropMind Chat Advisor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Farming Assistant:</a:t>
            </a:r>
            <a:r>
              <a:t> Converse with a digital agronomist helper that focuses strictly on agricultural topics.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Voice Translation:</a:t>
            </a:r>
            <a:r>
              <a:t> Speak questions aloud in local languages for easy hands-free use.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Auto Forms:</a:t>
            </a:r>
            <a:r>
              <a:t> Mentions of crop planning or soil queries automatically open the correct input form.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Context Memory:</a:t>
            </a:r>
            <a:r>
              <a:t> Remembers recent exchanges in the conversation to support continuous discussions.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803D"/>
                </a:solidFill>
                <a:latin typeface="Arial"/>
              </a:defRPr>
            </a:pPr>
            <a:r>
              <a:t>5. Soil Suggestions, Planner &amp; 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591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Soil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Soil Inputs:</a:t>
            </a:r>
            <a:r>
              <a:t> Analyzes nitrogen, potassium, pH, and rainfall to select the best crop.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Local Model:</a:t>
            </a:r>
            <a:r>
              <a:t> Ingests soil metrics locally to recommend ideal crop choices.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Custom Guides:</a:t>
            </a:r>
            <a:r>
              <a:t> Generates a basic layout for fertilizer and watering schedules.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AI Crop Planner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1945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Inputs:</a:t>
            </a:r>
            <a:r>
              <a:t> Ingests crop type, acreage, water availability, and budget.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4-Month Timeline:</a:t>
            </a:r>
            <a:r>
              <a:t> Creates a detailed timeline from soil prep to final harvest.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English &amp; Urdu:</a:t>
            </a:r>
            <a:r>
              <a:t> Displays guides in the farmer's preferred language.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Wholesale Marketplace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1945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Crop Listings:</a:t>
            </a:r>
            <a:r>
              <a:t> Post wholesale listings with custom pricing and location.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Deal Analyzer:</a:t>
            </a:r>
            <a:r>
              <a:t> Calculates estimated profit margins and suggests negotiation tips.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Price Suggestions:</a:t>
            </a:r>
            <a:r>
              <a:t> Compares inputs with local mandi averages to recommend fair prices.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803D"/>
                </a:solidFill>
                <a:latin typeface="Arial"/>
              </a:defRPr>
            </a:pPr>
            <a:r>
              <a:t>6. Database and Storage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591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Arial"/>
              </a:defRPr>
            </a:pPr>
            <a:r>
              <a:t>Relational database layout with MySQL 8.0 for production and SQLite for development. Simple table structures hold key data: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1. users:</a:t>
            </a:r>
            <a:r>
              <a:t> Handles account credentials, region settings, and daily AI limits.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2. scans:</a:t>
            </a:r>
            <a:r>
              <a:t> Saves diagnostic logs, leaf photo links, and treatment guides.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3. chat_history:</a:t>
            </a:r>
            <a:r>
              <a:t> Keeps user conversation histories for the digital assistant.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4. community_posts &amp; comments:</a:t>
            </a:r>
            <a:r>
              <a:t> Manages discussion boards and replies.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5. post_likes:</a:t>
            </a:r>
            <a:r>
              <a:t> Tracks forum likes to ensure fair discussion voting.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6. marketplace_items:</a:t>
            </a:r>
            <a:r>
              <a:t> Keeps wholesale crop listings posted by farmers.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803D"/>
                </a:solidFill>
                <a:latin typeface="Arial"/>
              </a:defRPr>
            </a:pPr>
            <a:r>
              <a:t>7. Rate Limiting &amp; Stability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591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Rate Limiting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Security Wrappers:</a:t>
            </a:r>
            <a:r>
              <a:t> Uses decorator functions to protect backend API routes.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Memory Store:</a:t>
            </a:r>
            <a:r>
              <a:t> Keeps temporary counts of route access by time windows.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Client Check:</a:t>
            </a:r>
            <a:r>
              <a:t> Identifies users by account token or device IP address.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Short &amp; Long Term:</a:t>
            </a:r>
            <a:r>
              <a:t> Enforces both per-minute and daily access restrictions.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Route Cooldown:</a:t>
            </a:r>
            <a:r>
              <a:t> Temporarily suspends access if limits are exceeded, providing a wait timer.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Default Usage Quotas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Leaf Scan:</a:t>
            </a:r>
            <a:r>
              <a:t> 3 requests per minute, 10 requests per day.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Chat Advisor:</a:t>
            </a:r>
            <a:r>
              <a:t> 10 requests per minute, 100 requests per day.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Voice Translation:</a:t>
            </a:r>
            <a:r>
              <a:t> 5 requests per minute, 50 requests per day.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Weather Alerts:</a:t>
            </a:r>
            <a:r>
              <a:t> 5 requests per minute, 30 requests per day.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Price Suggestions:</a:t>
            </a:r>
            <a:r>
              <a:t> 5 requests per minute, 30 requests per day.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Planner &amp; AI Advice:</a:t>
            </a:r>
            <a:r>
              <a:t> 5 requests per minute, 30 requests per day.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803D"/>
                </a:solidFill>
                <a:latin typeface="Arial"/>
              </a:defRPr>
            </a:pPr>
            <a:r>
              <a:t>8. Admin Controls &amp; Governance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591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Admin Panel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User Management:</a:t>
            </a:r>
            <a:r>
              <a:t> View user accounts, email registration, and regional settings.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Admin Privilege:</a:t>
            </a:r>
            <a:r>
              <a:t> Safely grant or demote administrator status for users.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Auto Bootstrap:</a:t>
            </a:r>
            <a:r>
              <a:t> Promotes the first user in the database to admin automatically.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User Deletion:</a:t>
            </a:r>
            <a:r>
              <a:t> Permanently delete inactive accounts and related histories.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Custom Quota Overrides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AI Limit Customization:</a:t>
            </a:r>
            <a:r>
              <a:t> Set custom daily quotas for individual accounts.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Access Disabling:</a:t>
            </a:r>
            <a:r>
              <a:t> Setting daily limits to zero disables all AI tool options.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Access Warnings:</a:t>
            </a:r>
            <a:r>
              <a:t> Disabled accounts receive clear warnings on blocked pages.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Self Lockout Safeguard:</a:t>
            </a:r>
            <a:r>
              <a:t> Admin accounts are protected from self-demotion or self-deletion.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803D"/>
                </a:solidFill>
                <a:latin typeface="Arial"/>
              </a:defRPr>
            </a:pPr>
            <a:r>
              <a:t>9. Security Measures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591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Account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Password Hashing:</a:t>
            </a:r>
            <a:r>
              <a:t> Hashes user passwords securely using Bcrypt.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Token Logins:</a:t>
            </a:r>
            <a:r>
              <a:t> Signed Web Tokens manage secure user sessions.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Auto Logout:</a:t>
            </a:r>
            <a:r>
              <a:t> Clears token keys if sessions expire.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CORS Settings:</a:t>
            </a:r>
            <a:r>
              <a:t> Limits server entry to registered frontend origins.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Data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SQL Protection:</a:t>
            </a:r>
            <a:r>
              <a:t> Uses parameter bindings to prevent database injection.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Email Sanitization:</a:t>
            </a:r>
            <a:r>
              <a:t> Enforces lowercase checking to prevent account duplicates.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Key Isolation:</a:t>
            </a:r>
            <a:r>
              <a:t> External API credentials are kept in secure local environments.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Forum Likes Mapping:</a:t>
            </a:r>
            <a:r>
              <a:t> Uses mapping parameters to restrict users to one vote per post.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803D"/>
                </a:solidFill>
                <a:latin typeface="Arial"/>
              </a:defRPr>
            </a:pPr>
            <a:r>
              <a:t>10. Deployment &amp; Hosting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591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Containerized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Database container:</a:t>
            </a:r>
            <a:r>
              <a:t> MySQL production container with health checks and data volumes.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Backend container:</a:t>
            </a:r>
            <a:r>
              <a:t> Flask application running core routes.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Proxy router:</a:t>
            </a:r>
            <a:r>
              <a:t> Nginx gateway managing SSL and request directions.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Cloud Hosting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Frontend CDN:</a:t>
            </a:r>
            <a:r>
              <a:t> Hosts frontend file resources on a fast content network.</a:t>
            </a:r>
          </a:p>
          <a:p>
            <a:pPr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Proxy Settings:</a:t>
            </a:r>
            <a:r>
              <a:t> Redirects API requests smoothly to bypass security errors.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80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4552" cy="5943600"/>
          </a:xfrm>
          <a:prstGeom prst="roundRect">
            <a:avLst/>
          </a:prstGeom>
          <a:noFill/>
          <a:ln w="381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BBF7D0"/>
                </a:solidFill>
              </a:defRPr>
            </a:pPr>
            <a:r>
              <a:t>ARGOFARM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BF7D0"/>
                </a:solidFill>
                <a:latin typeface="Arial"/>
              </a:defRPr>
            </a:pPr>
            <a:r>
              <a:t>ArgoFarm — Agricultural Advisory &amp; Crop Diagnostics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Arial"/>
              </a:defRPr>
            </a:pPr>
            <a:r>
              <a:t>Supporting Pakistani farmers through simple and accessible technology.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