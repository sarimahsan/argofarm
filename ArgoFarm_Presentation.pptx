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4552" cy="5943600"/>
          </a:xfrm>
          <a:prstGeom prst="roundRect">
            <a:avLst/>
          </a:prstGeom>
          <a:noFill/>
          <a:ln w="381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/>
            </a:pPr>
            <a:r>
              <a:t>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ArgoFarm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F7D0"/>
                </a:solidFill>
                <a:latin typeface="Arial"/>
              </a:defRPr>
            </a:pPr>
            <a:r>
              <a:t>AI-Powered Crop Diagnostics &amp; Advisory Platform for Pakistan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Technical Project Overview &amp;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BF7D0"/>
                </a:solidFill>
              </a:defRPr>
            </a:pPr>
            <a:r>
              <a:t>Platform: Single-Page Web App (SPA)   |   Target Region: Pakistan 🇵🇰   |   Languages: English &amp; Urdu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1. Project Overview &amp; Target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Problem Statement: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 Losses:</a:t>
            </a:r>
            <a:r>
              <a:t> Pakistan's farmers face major financial losses due to late or inaccurate leaf disease detection.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Expert Deficit:</a:t>
            </a:r>
            <a:r>
              <a:t> High agronomist-to-farmer ratio, limiting custom support in rural villages.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Weather Extremes:</a:t>
            </a:r>
            <a:r>
              <a:t> Climate fluctuations cause high volatility without protective alerts.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Market Gaps:</a:t>
            </a:r>
            <a:r>
              <a:t> Absence of bulk rate transparency, leaving farmers open to sub-optimal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ArgoFarm Objectives: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Instant AI Diagnostics:</a:t>
            </a:r>
            <a:r>
              <a:t> Upload leaves for diagnostic readouts under 5 seconds (Gemini Vision).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Bilingual Advisory:</a:t>
            </a:r>
            <a:r>
              <a:t> Natural conversations in English &amp; Urdu (Groq LLaMA 3.3).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Outbreak GIS Mapping:</a:t>
            </a:r>
            <a:r>
              <a:t> Real-time outbreak radars visualizing crop diagnostics dynamically (Leaflet.js).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Dynamic Tools:</a:t>
            </a:r>
            <a:r>
              <a:t> Crop calculators, 4-month planners, and AI wholesale price negotiators.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2. Technology Stack &amp; API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Backend API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Python 3.9+ / Flask</a:t>
            </a:r>
          </a:p>
          <a:p>
            <a:pPr>
              <a:defRPr sz="1300">
                <a:latin typeface="Arial"/>
              </a:defRPr>
            </a:pPr>
            <a:r>
              <a:t>mysql-connector</a:t>
            </a:r>
          </a:p>
          <a:p>
            <a:pPr>
              <a:defRPr sz="1300">
                <a:latin typeface="Arial"/>
              </a:defRPr>
            </a:pPr>
            <a:r>
              <a:t>PyJWT &amp; Bcrypt</a:t>
            </a:r>
          </a:p>
          <a:p>
            <a:pPr>
              <a:defRPr sz="1300">
                <a:latin typeface="Arial"/>
              </a:defRPr>
            </a:pPr>
            <a:r>
              <a:t>scikit-learn (ML)</a:t>
            </a:r>
          </a:p>
          <a:p>
            <a:pPr>
              <a:defRPr sz="1300">
                <a:latin typeface="Arial"/>
              </a:defRPr>
            </a:pPr>
            <a:r>
              <a:t>Pillow (Images)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Frontend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Vanilla JS SPA</a:t>
            </a:r>
          </a:p>
          <a:p>
            <a:pPr>
              <a:defRPr sz="1300">
                <a:latin typeface="Arial"/>
              </a:defRPr>
            </a:pPr>
            <a:r>
              <a:t>Vite 8.0 Bundler</a:t>
            </a:r>
          </a:p>
          <a:p>
            <a:pPr>
              <a:defRPr sz="1300">
                <a:latin typeface="Arial"/>
              </a:defRPr>
            </a:pPr>
            <a:r>
              <a:t>Leaflet.js Mapping</a:t>
            </a:r>
          </a:p>
          <a:p>
            <a:pPr>
              <a:defRPr sz="1300">
                <a:latin typeface="Arial"/>
              </a:defRPr>
            </a:pPr>
            <a:r>
              <a:t>Chart.js Analytics</a:t>
            </a:r>
          </a:p>
          <a:p>
            <a:pPr>
              <a:defRPr sz="1300">
                <a:latin typeface="Arial"/>
              </a:defRPr>
            </a:pPr>
            <a:r>
              <a:t>Vanilla CSS Themes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AI Cloud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Gemini 2.5 Flash</a:t>
            </a:r>
          </a:p>
          <a:p>
            <a:pPr>
              <a:defRPr sz="1300">
                <a:latin typeface="Arial"/>
              </a:defRPr>
            </a:pPr>
            <a:r>
              <a:t>Gemini 3.5 Flash</a:t>
            </a:r>
          </a:p>
          <a:p>
            <a:pPr>
              <a:defRPr sz="1300">
                <a:latin typeface="Arial"/>
              </a:defRPr>
            </a:pPr>
            <a:r>
              <a:t>LLaMA 3.3 70B</a:t>
            </a:r>
          </a:p>
          <a:p>
            <a:pPr>
              <a:defRPr sz="1300">
                <a:latin typeface="Arial"/>
              </a:defRPr>
            </a:pPr>
            <a:r>
              <a:t>Whisper Large V3</a:t>
            </a:r>
          </a:p>
          <a:p>
            <a:pPr>
              <a:defRPr sz="1300">
                <a:latin typeface="Arial"/>
              </a:defRPr>
            </a:pPr>
            <a:r>
              <a:t>Open-Meteo Weather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Docker Compose</a:t>
            </a:r>
          </a:p>
          <a:p>
            <a:pPr>
              <a:defRPr sz="1300">
                <a:latin typeface="Arial"/>
              </a:defRPr>
            </a:pPr>
            <a:r>
              <a:t>Nginx Reverse Proxy</a:t>
            </a:r>
          </a:p>
          <a:p>
            <a:pPr>
              <a:defRPr sz="1300">
                <a:latin typeface="Arial"/>
              </a:defRPr>
            </a:pPr>
            <a:r>
              <a:t>Netlify SPA Hosting</a:t>
            </a:r>
          </a:p>
          <a:p>
            <a:pPr>
              <a:defRPr sz="1300">
                <a:latin typeface="Arial"/>
              </a:defRPr>
            </a:pPr>
            <a:r>
              <a:t>VPS Python Host</a:t>
            </a:r>
          </a:p>
          <a:p>
            <a:pPr>
              <a:defRPr sz="1300">
                <a:latin typeface="Arial"/>
              </a:defRPr>
            </a:pPr>
            <a:r>
              <a:t>GitHub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3. System Architecture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t>ArgoFarm deploys a decoupled </a:t>
            </a:r>
            <a:r>
              <a:rPr b="1">
                <a:solidFill>
                  <a:srgbClr val="0F172A"/>
                </a:solidFill>
              </a:rPr>
              <a:t>three-tier client-server architecture</a:t>
            </a:r>
            <a:r>
              <a:t> designed to secure transaction payloads, limit external cost allocations, and supply offline resiliency.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Client Layer (Browser):</a:t>
            </a:r>
            <a:r>
              <a:t> A Vanilla JS SPA handles rendering. Request authorization tokens (JWT) are stored locally in the browser.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API Gateway &amp; Reverse Proxy (Nginx):</a:t>
            </a:r>
            <a:r>
              <a:t> Manages SSL termination and proxies frontend requests on port 80/443 to the backend Flask application.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Core Application Controller (Flask):</a:t>
            </a:r>
            <a:r>
              <a:t> Modulized via blueprints to delegate requests, implement API security checks, and process logic.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Storage Layer (MySQL / SQLite):</a:t>
            </a:r>
            <a:r>
              <a:t> Autodetects host databases. Falls back dynamically to local SQLite database in dev environments.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5. AI Orchestration Layer:</a:t>
            </a:r>
            <a:r>
              <a:t> Feeds inputs to Gemini (Vision/Weather) and Groq LLaMA (Chat/Planning). Implements offline fallback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4. Core Features: Crop Scan &amp; Conversational 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🔬 AI Crop Scanning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Gemini 2.5 Flash Vision:</a:t>
            </a:r>
            <a:r>
              <a:t> Uploaded leaf images are base64-encoded and evaluated by system agronomist prompts.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Confidence Validation:</a:t>
            </a:r>
            <a:r>
              <a:t> Images scoring under 50% are flagged as unclear and rejected to prevent false diagnostic readings.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Remedy Advisories:</a:t>
            </a:r>
            <a:r>
              <a:t> Structured replies cover organic treatments, chemical controls, and preventative advice.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Offline Fallbacks:</a:t>
            </a:r>
            <a:r>
              <a:t> Generates standard diagnostic advice if Gemini API is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🤖 CropMind AI Chat &amp;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Conversational LLaMA 3.3:</a:t>
            </a:r>
            <a:r>
              <a:t> Acting as a senior Pakistani agronomist. Strictly filters out unrelated off-topic inputs.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Groq Whisper Transcription:</a:t>
            </a:r>
            <a:r>
              <a:t> Converts recorded WebM/WAV voice files into clean text inputs for hands-free queries.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Interactive Forms:</a:t>
            </a:r>
            <a:r>
              <a:t> Detects mentions of soil assessments or disease outbreaks to trigger input forms automatically.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Dynamic Memory:</a:t>
            </a:r>
            <a:r>
              <a:t> Transmits the last 4 messages in history for lightweight session context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5. Local ML Classifier, Planner &amp; Marketplace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📊 Crop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Local Random Forest:</a:t>
            </a:r>
            <a:r>
              <a:t> Ingests nitrogen, phosphorus, potassium, pH, rainfall, temp, and humidity.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Dependency:</a:t>
            </a:r>
            <a:r>
              <a:t> Runs locally from a serialized `.pkl` model file at boot.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Agronomist Report:</a:t>
            </a:r>
            <a:r>
              <a:t> Groq synthesizes the model prediction into custom fertilizer &amp; watering schedules.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📅 AI Crop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Inputs:</a:t>
            </a:r>
            <a:r>
              <a:t> Ingests crop type, land acreage, farming budget, and water supply availability levels.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4-Month Calendar:</a:t>
            </a:r>
            <a:r>
              <a:t> Outputs custom, week-by-week actions.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Bilingual support:</a:t>
            </a:r>
            <a:r>
              <a:t> Renders calendars in clean English or Urdu scripts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🛒 Wholesale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B2B Listings:</a:t>
            </a:r>
            <a:r>
              <a:t> Farmers post crops directly with wholesale descriptions.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AI Deal Analyzer:</a:t>
            </a:r>
            <a:r>
              <a:t> Evaluates listings and provides margins and negotiation strategies.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Price Suggestions:</a:t>
            </a:r>
            <a:r>
              <a:t> Gemini evaluates coordinates, seasons, and local mandi averages to recommend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6. Database Design &amp; Relational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rial"/>
              </a:defRPr>
            </a:pPr>
            <a:r>
              <a:t>Dual-engine mapping: MySQL 8.0 serves production. Development auto-detects MySQL availability and falls back to SQLite. Relational structure handles application states: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users:</a:t>
            </a:r>
            <a:r>
              <a:t> Stores profiles, credentials, admin status (`is_admin`), and customized daily AI limit allowances (`ai_limit`).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scans:</a:t>
            </a:r>
            <a:r>
              <a:t> Keeps crop pathology analysis fields, leaf image links, confidence scores, and advisory readouts.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chat_history:</a:t>
            </a:r>
            <a:r>
              <a:t> Preserves multi-turn chat dialogues separated by session IDs.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community_posts &amp; comments:</a:t>
            </a:r>
            <a:r>
              <a:t> Handles general forum logs and threaded comment replies.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5. post_likes:</a:t>
            </a:r>
            <a:r>
              <a:t> Tracking table managing unique user post likes to ensure single-vote compliance.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6. marketplace_items:</a:t>
            </a:r>
            <a:r>
              <a:t> Holds wholesale crop pricing, descriptions, and user listings.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7. API Rate Limiting &amp; Token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🔒 Rate Limiting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Decorator-Based:</a:t>
            </a:r>
            <a:r>
              <a:t> Implemented as a reusable `@rate_limit` wrapper in `backend/utils/rate_limit.py`.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In-Memory Store:</a:t>
            </a:r>
            <a:r>
              <a:t> Tracks request timestamps by combination of client identifier, route, and period window.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Client Recognition:</a:t>
            </a:r>
            <a:r>
              <a:t> Identifies users by JWT claims. Falls back to client IP address behind reverse proxies.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API Protections:</a:t>
            </a:r>
            <a:r>
              <a:t> Stacks decorators to enforce short-term (per minute) and long-term (daily) limits.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HTTP Status:</a:t>
            </a:r>
            <a:r>
              <a:t> Blocks exceeding calls with code </a:t>
            </a:r>
            <a:r>
              <a:rPr b="1">
                <a:solidFill>
                  <a:srgbClr val="0F172A"/>
                </a:solidFill>
              </a:rPr>
              <a:t>429 Too Many Requests</a:t>
            </a:r>
            <a:r>
              <a:t> and dynamic wait duration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🛡️ Endpoint Quotas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 Scan (/scan/predict):</a:t>
            </a:r>
            <a:r>
              <a:t> Limited to </a:t>
            </a:r>
            <a:r>
              <a:rPr b="1">
                <a:solidFill>
                  <a:srgbClr val="0F172A"/>
                </a:solidFill>
              </a:rPr>
              <a:t>3 requests/min</a:t>
            </a:r>
            <a:r>
              <a:t> and </a:t>
            </a:r>
            <a:r>
              <a:rPr b="1">
                <a:solidFill>
                  <a:srgbClr val="0F172A"/>
                </a:solidFill>
              </a:rPr>
              <a:t>10 requests/day</a:t>
            </a:r>
            <a:r>
              <a:t>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CropMind AI (/chat/send):</a:t>
            </a:r>
            <a:r>
              <a:t> Limited to </a:t>
            </a:r>
            <a:r>
              <a:rPr b="1">
                <a:solidFill>
                  <a:srgbClr val="0F172A"/>
                </a:solidFill>
              </a:rPr>
              <a:t>10 requests/min</a:t>
            </a:r>
            <a:r>
              <a:t> and </a:t>
            </a:r>
            <a:r>
              <a:rPr b="1">
                <a:solidFill>
                  <a:srgbClr val="0F172A"/>
                </a:solidFill>
              </a:rPr>
              <a:t>100 requests/day</a:t>
            </a:r>
            <a:r>
              <a:t>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Voice (/chat/transcribe):</a:t>
            </a:r>
            <a:r>
              <a:t> Limited to </a:t>
            </a:r>
            <a:r>
              <a:rPr b="1">
                <a:solidFill>
                  <a:srgbClr val="0F172A"/>
                </a:solidFill>
              </a:rPr>
              <a:t>5 requests/min</a:t>
            </a:r>
            <a:r>
              <a:t> and </a:t>
            </a:r>
            <a:r>
              <a:rPr b="1">
                <a:solidFill>
                  <a:srgbClr val="0F172A"/>
                </a:solidFill>
              </a:rPr>
              <a:t>50 requests/day</a:t>
            </a:r>
            <a:r>
              <a:t>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Soil prediction &amp; weather advisories:</a:t>
            </a:r>
            <a:r>
              <a:t> Limited to </a:t>
            </a:r>
            <a:r>
              <a:rPr b="1">
                <a:solidFill>
                  <a:srgbClr val="0F172A"/>
                </a:solidFill>
              </a:rPr>
              <a:t>5 requests/min</a:t>
            </a:r>
            <a:r>
              <a:t> and </a:t>
            </a:r>
            <a:r>
              <a:rPr b="1">
                <a:solidFill>
                  <a:srgbClr val="0F172A"/>
                </a:solidFill>
              </a:rPr>
              <a:t>30 requests/day</a:t>
            </a:r>
            <a:r>
              <a:t>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Wholesale analysis &amp; Price estimation:</a:t>
            </a:r>
            <a:r>
              <a:t> Limited to </a:t>
            </a:r>
            <a:r>
              <a:rPr b="1">
                <a:solidFill>
                  <a:srgbClr val="0F172A"/>
                </a:solidFill>
              </a:rPr>
              <a:t>5 requests/min</a:t>
            </a:r>
            <a:r>
              <a:t> and </a:t>
            </a:r>
            <a:r>
              <a:rPr b="1">
                <a:solidFill>
                  <a:srgbClr val="0F172A"/>
                </a:solidFill>
              </a:rPr>
              <a:t>30 requests/day</a:t>
            </a:r>
            <a:r>
              <a:t>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Forum post AI-diagnose &amp; AI calendars:</a:t>
            </a:r>
            <a:r>
              <a:t> Limited to </a:t>
            </a:r>
            <a:r>
              <a:rPr b="1">
                <a:solidFill>
                  <a:srgbClr val="0F172A"/>
                </a:solidFill>
              </a:rPr>
              <a:t>5 requests/min</a:t>
            </a:r>
            <a:r>
              <a:t> and </a:t>
            </a:r>
            <a:r>
              <a:rPr b="1">
                <a:solidFill>
                  <a:srgbClr val="0F172A"/>
                </a:solidFill>
              </a:rPr>
              <a:t>30 requests/day</a:t>
            </a:r>
            <a: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8. Admin Console &amp; Account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👑 Admin Dashboard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User Database view:</a:t>
            </a:r>
            <a:r>
              <a:t> Restricted `/admin` dashboard lists registration timestamps, emails, regions, and roles.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Promote/Demote Controls:</a:t>
            </a:r>
            <a:r>
              <a:t> Toggles `is_admin` column flags dynamically for database users.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Auto-Bootstrapping:</a:t>
            </a:r>
            <a:r>
              <a:t> Promotes the first registered user, or emails starting with `admin@`, to administrators.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User Account Deletion:</a:t>
            </a:r>
            <a:r>
              <a:t> Permanently purge accounts and associated history from the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⚙️ Custom AI Limits &amp;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AI limit Overrides:</a:t>
            </a:r>
            <a:r>
              <a:t> Set custom daily quotas (`ai_limit`) on a user-by-user basis, overriding global defaults.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Account Disabling:</a:t>
            </a:r>
            <a:r>
              <a:t> Setting `ai_limit = 0` blocks the user from all AI operations.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403 Forbidden Response:</a:t>
            </a:r>
            <a:r>
              <a:t> Users with disabled AI access receive descriptive error messages.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Lockout Protection:</a:t>
            </a:r>
            <a:r>
              <a:t> Validations prevent administrators from demoting or deleting themselves.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9. System Security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🔑 Identity &amp; Access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Bcrypt Cryptography:</a:t>
            </a:r>
            <a:r>
              <a:t> Password inputs are hashed with salt rounds before database storage.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JWT Signing:</a:t>
            </a:r>
            <a:r>
              <a:t> Client sessions are authenticated using JSON Web Tokens signed with HS256.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Automatic Logout:</a:t>
            </a:r>
            <a:r>
              <a:t> Frontend cleans authentication tokens and cached credentials on receipt of a 401 response.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CORS Controls:</a:t>
            </a:r>
            <a:r>
              <a:t> Restricts route access to registered client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📦 Query Security &amp; Data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SQL parameterization:</a:t>
            </a:r>
            <a:r>
              <a:t> Prevents SQL injection by sanitizing all query inputs.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Email Normalization:</a:t>
            </a:r>
            <a:r>
              <a:t> Normalizes emails to lowercase to prevent duplication.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Secured credentials:</a:t>
            </a:r>
            <a:r>
              <a:t> API keys and credentials are kept in `.env` variables.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Likes tracking constraints:</a:t>
            </a:r>
            <a:r>
              <a:t> Tracks post likes using mapping keys (`post_likes`) to ensure single votes.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10. Deployment &amp; Infrastructure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🐳 Containerized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db (MySQL 8.0):</a:t>
            </a:r>
            <a:r>
              <a:t> Production database with custom healthcheck flags and persistent volume mapping.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backend (Flask API):</a:t>
            </a:r>
            <a:r>
              <a:t> Custom Python container running WSGI app on port 3000.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frontend (Nginx builder):</a:t>
            </a:r>
            <a:r>
              <a:t> Build step generates dist/ assets for serving.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nginx (Reverse proxy):</a:t>
            </a:r>
            <a:r>
              <a:t> Maps incoming VPS requests on port 80/443 to correct service containers.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🌐 Cloud Host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Netlify static deployment:</a:t>
            </a:r>
            <a:r>
              <a:t> Serves the compiled JavaScript frontend SPA directly from Netlify's global CDN.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API proxy configuration:</a:t>
            </a:r>
            <a:r>
              <a:t> The frontend public folder uses a `_redirects` mapping file.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Proxying (/api/*):</a:t>
            </a:r>
            <a:r>
              <a:t> Passes browser API requests to the Python VPS host backend.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CORS Resolution:</a:t>
            </a:r>
            <a:r>
              <a:t> Prevents browser mixed-content blocks and CORS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4552" cy="5943600"/>
          </a:xfrm>
          <a:prstGeom prst="roundRect">
            <a:avLst/>
          </a:prstGeom>
          <a:noFill/>
          <a:ln w="381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/>
            </a:pPr>
            <a:r>
              <a:t>🇵🇰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F7D0"/>
                </a:solidFill>
                <a:latin typeface="Arial"/>
              </a:defRPr>
            </a:pPr>
            <a:r>
              <a:t>ArgoFarm — AI-Powered Crop Diagnostics &amp; Advisory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Empowering agricultural resilience through accessible artificial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